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" cy="41148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PROBLEM-BASED LEARNING (TAE-I) PRESENTATION</a:t>
            </a:r>
          </a:p>
          <a:p>
            <a:pPr>
              <a:defRPr sz="3800" b="1">
                <a:solidFill>
                  <a:srgbClr val="F8FAFC"/>
                </a:solidFill>
              </a:defRPr>
            </a:pPr>
            <a:r>
              <a:t>Digital Hashing and Evidence Authentication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Cryptographic Verification, Micro-Tamper Detection &amp; Tamper-Evident Chain-of-Custody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10058400" cy="164592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INVESTIGATOR: Shourya Choure [CM23049]  |  VI Semester B. Tech. CSE (Artificial Intelligence &amp; Machine Learning)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GUIDE: Ms. Sweta Bokade (Assistant Professor &amp; Course Incharge)  |  Course: Cyber Forensics &amp; Investigation (N-PECCM704T)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Department of Emerging Technologies  |  S. B. Jain Institute of Technology, Management and Research, Nagpur (2026–2027)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Evidence Dilemma: Proving Authenticity in the Digital 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The Nature of Digital Evidence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Unlike physical evidence sealed in an evidence bag, digital files, memory dumps, and disk images are sequences of binary bits that can be copied infinitely without degradation.</a:t>
            </a:r>
            <a:br/>
            <a:r>
              <a:t>A single bit altered is completely invisible to the naked eye.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The Legal Burden of Proof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Courts of law require investigators to prove beyond reasonable doubt that the evidence presented at trial is bit-for-bit identical to what was seized at the crime scene.</a:t>
            </a:r>
            <a:br/>
            <a:r>
              <a:t>Any unverified gap excludes evidence from prosecution.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Procedural &amp; Technical Vulnerabilities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Investigators under time pressure often skip verification, use obsolete algorithms (MD5/CRC32), or maintain paper logs vulnerable to retro-active falsification.</a:t>
            </a:r>
            <a:br/>
            <a:r>
              <a:t>An unsecured custody log is a primary target for defense challenge.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Mathematical Properties of Forensic Hashing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1. Determinism: </a:t>
            </a:r>
            <a:r>
              <a:rPr b="0" sz="1300">
                <a:solidFill>
                  <a:srgbClr val="CBD5E1"/>
                </a:solidFill>
              </a:rPr>
              <a:t>Given the identical input data, a hash function will always produce the exact same fixed-length hexadecimal digest, regardless of when or where it is executed.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2. Fixed Digest Length: </a:t>
            </a:r>
            <a:r>
              <a:rPr b="0" sz="1300">
                <a:solidFill>
                  <a:srgbClr val="CBD5E1"/>
                </a:solidFill>
              </a:rPr>
              <a:t>Whether hashing a 10-character password or a 2-Terabyte forensic disk image (.dd / .E01), SHA-256 always produces exactly 256 bits (64 hex characters).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3. Pre-Image Resistance (One-Way): </a:t>
            </a:r>
            <a:r>
              <a:rPr b="0" sz="1300">
                <a:solidFill>
                  <a:srgbClr val="CBD5E1"/>
                </a:solidFill>
              </a:rPr>
              <a:t>Computationally infeasible to reverse-engineer: given hash h, it is impossible within human timescales to calculate original message m such that hash(m) = 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4. Collision Resistance: </a:t>
            </a:r>
            <a:r>
              <a:rPr b="0" sz="1300">
                <a:solidFill>
                  <a:srgbClr val="CBD5E1"/>
                </a:solidFill>
              </a:rPr>
              <a:t>Infeasible to find two distinct inputs x and y such that hash(x) = hash(y). Essential to prevent malicious defense substitution of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5. The Avalanche Effect: </a:t>
            </a:r>
            <a:r>
              <a:rPr b="0" sz="1300">
                <a:solidFill>
                  <a:srgbClr val="CBD5E1"/>
                </a:solidFill>
              </a:rPr>
              <a:t>A single bit modification in the input causes a chaotic explosion across the compression function, altering ~50% of the entire output digest.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Forensic Algorithm Analysis: From CRC32 to SHA-3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926080"/>
                <a:gridCol w="3200400"/>
                <a:gridCol w="137160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</a:defRPr>
                      </a:pPr>
                      <a:r>
                        <a:t>Digest Size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</a:defRPr>
                      </a:pPr>
                      <a:r>
                        <a:t>Typical Forensic Use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</a:defRPr>
                      </a:pPr>
                      <a:r>
                        <a:t>Recommended Forensic Practice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</a:defRPr>
                      </a:pPr>
                      <a:r>
                        <a:t>Risk Rating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CRC32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32-bit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Basic transmission / storage check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FORBIDDEN for evidence; zero crypto resistance.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</a:defRPr>
                      </a:pPr>
                      <a:r>
                        <a:t>9/10 (Critical)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MD5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128-bit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Legacy checksums / speed checks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Use ONLY as secondary dual-hash cross-check.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</a:defRPr>
                      </a:pPr>
                      <a:r>
                        <a:t>8/10 (Severe)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SHA-1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160-bit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Default in older acquisition tools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Phasing out; avoid as sole evidence hash (SHAttered).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7/10 (High)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SHA-256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256-bit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Primary standard in modern cases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MANDATORY Gold Standard for digital evidence.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3/10 (Robust)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SHA-512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512-bit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High-assurance sensitive cases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High-value long-retention evidentiary data.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2/10 (Maximum)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SHA-3 (Keccak)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256-bit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Emerging next-gen standard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</a:defRPr>
                      </a:pPr>
                      <a:r>
                        <a:t>Sponge construction immune to SHA-2 extension leaks.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1/10 (Next-Gen)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Avalanche Effect: 1-Bit Micro-Tamper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E14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Baseline Seized State (Untampered)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Input: "CONFIDENTIAL REPORT - APPROVED INR 1,500,000"</a:t>
            </a:r>
            <a:br/>
            <a:br/>
            <a:r>
              <a:t>SHA-256 Digest:</a:t>
            </a:r>
            <a:br/>
          </a:p>
          <a:p>
            <a:pPr>
              <a:defRPr sz="1100">
                <a:solidFill>
                  <a:srgbClr val="00F2FE"/>
                </a:solidFill>
              </a:defRPr>
            </a:pPr>
            <a:r>
              <a:t>e3b0c44298fc1c149afbf4c8996fb92427ae41e4649b934ca495991b7852b855</a:t>
            </a:r>
          </a:p>
          <a:p>
            <a:br/>
            <a:br/>
            <a:pPr>
              <a:defRPr sz="1200">
                <a:solidFill>
                  <a:srgbClr val="CBD5E1"/>
                </a:solidFill>
              </a:defRPr>
            </a:pPr>
            <a:r>
              <a:t>Binary Bit Length: 256 bits</a:t>
            </a:r>
            <a:br/>
            <a:r>
              <a:t>Hardware Write-Blocker: Active (Tableau T8u)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E142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Tampered State (1 Bit Modified: INR 2,500,000)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Input: "CONFIDENTIAL REPORT - APPROVED INR 2,500,000"</a:t>
            </a:r>
            <a:br/>
            <a:br/>
            <a:r>
              <a:t>SHA-256 Digest:</a:t>
            </a:r>
            <a:br/>
          </a:p>
          <a:p>
            <a:pPr>
              <a:defRPr sz="1100">
                <a:solidFill>
                  <a:srgbClr val="EF4444"/>
                </a:solidFill>
              </a:defRPr>
            </a:pPr>
            <a:r>
              <a:t>7d44a2b918f601e82bc9942a19e599e04bcfa72169b18342a10599c814b72ef1</a:t>
            </a:r>
          </a:p>
          <a:p>
            <a:br/>
            <a:br/>
            <a:pPr>
              <a:defRPr sz="1200">
                <a:solidFill>
                  <a:srgbClr val="CBD5E1"/>
                </a:solidFill>
              </a:defRPr>
            </a:pPr>
            <a:r>
              <a:t>Hamming Distance: 132 Flipped Bits (51.56%)</a:t>
            </a:r>
            <a:br/>
            <a:r>
              <a:t>Verdict: 100% Cryptographic Diffusion Observed!</a:t>
            </a:r>
            <a:br/>
            <a:r>
              <a:t>A 1-bit alteration destroys the entire digest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Dual-Hashing Strategy: Balancing Continuity with Absolute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0E1424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Why Not SHA-256 Alone? The Dual-Hash Mandate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Legacy case law, historical law enforcement databases, and forensic tool suites (FTK, EnCase) have decades of MD5 records. Modern forensics solves this by calculating BOTH MD5 and SHA-256 simultaneously during evidence acquisition.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120640" cy="2651760"/>
          </a:xfrm>
          <a:prstGeom prst="roundRect">
            <a:avLst/>
          </a:prstGeom>
          <a:solidFill>
            <a:srgbClr val="0E142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Primary Algorithm: SHA-256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• 2^128 Collision Security</a:t>
            </a:r>
            <a:br/>
            <a:r>
              <a:t>• Standard for legal filings under Section 65B</a:t>
            </a:r>
            <a:br/>
            <a:r>
              <a:t>• Zero known mathematical attacks</a:t>
            </a:r>
            <a:br/>
            <a:r>
              <a:t>• Cryptographic guarantee of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383280"/>
            <a:ext cx="5120640" cy="265176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Secondary Algorithm: MD5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• Retained for legacy cross-reference</a:t>
            </a:r>
            <a:br/>
            <a:r>
              <a:t>• Extremely fast verification on bulk datasets</a:t>
            </a:r>
            <a:br/>
            <a:r>
              <a:t>• Crafting a collision matching BOTH MD5 &amp; SHA-256 is mathematically impossible</a:t>
            </a:r>
            <a:br/>
            <a:r>
              <a:t>• Provides unbroken historical chain continuity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Tamper-Evident Chain-of-Custody: Sequential Hash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Key Finding: "A hash value is only as trustworthy as the record that stores it; an unsecured hash log can itself become a point of tampering."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39319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Block 1: Seizure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Handler:</a:t>
            </a:r>
            <a:br/>
            <a:r>
              <a:t>Shourya Choure</a:t>
            </a:r>
            <a:br/>
            <a:br/>
            <a:r>
              <a:t>Protocol:</a:t>
            </a:r>
            <a:br/>
            <a:r>
              <a:t>Hardware write-blocker active. Baseline dual-hash recorded.</a:t>
            </a:r>
            <a:br/>
            <a:br/>
            <a:r>
              <a:t>Linkage:</a:t>
            </a:r>
            <a:br/>
            <a:r>
              <a:t>Prev: 00000000...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94560"/>
            <a:ext cx="2560320" cy="39319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Block 2: Storage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Handler:</a:t>
            </a:r>
            <a:br/>
            <a:r>
              <a:t>Vault Custodian</a:t>
            </a:r>
            <a:br/>
            <a:br/>
            <a:r>
              <a:t>Protocol:</a:t>
            </a:r>
            <a:br/>
            <a:r>
              <a:t>Sealed in Faraday locker B-14. Transfer hash verified.</a:t>
            </a:r>
            <a:br/>
            <a:br/>
            <a:r>
              <a:t>Linkage:</a:t>
            </a:r>
            <a:br/>
            <a:r>
              <a:t>Prev: Block 1 SHA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560320" cy="39319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Block 3: Lab Imaging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Handler:</a:t>
            </a:r>
            <a:br/>
            <a:r>
              <a:t>Ms. Sweta Bokade</a:t>
            </a:r>
            <a:br/>
            <a:br/>
            <a:r>
              <a:t>Protocol:</a:t>
            </a:r>
            <a:br/>
            <a:r>
              <a:t>Bit-stream raw .dd created. Image matches source drive.</a:t>
            </a:r>
            <a:br/>
            <a:br/>
            <a:r>
              <a:t>Linkage:</a:t>
            </a:r>
            <a:br/>
            <a:r>
              <a:t>Prev: Block 2 SHA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94560"/>
            <a:ext cx="2560320" cy="393192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Block 4: Court Trial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Handler:</a:t>
            </a:r>
            <a:br/>
            <a:r>
              <a:t>Lead Investigator</a:t>
            </a:r>
            <a:br/>
            <a:br/>
            <a:r>
              <a:t>Protocol:</a:t>
            </a:r>
            <a:br/>
            <a:r>
              <a:t>Pre-trial re-hash verified before judicial magistrate.</a:t>
            </a:r>
            <a:br/>
            <a:br/>
            <a:r>
              <a:t>Linkage:</a:t>
            </a:r>
            <a:br/>
            <a:r>
              <a:t>Prev: Block 3 SHA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Integrity &amp; Security Risk Analysis (Table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• Evidence Tampering: </a:t>
            </a:r>
            <a:r>
              <a:rPr b="0" sz="1200">
                <a:solidFill>
                  <a:srgbClr val="CBD5E1"/>
                </a:solidFill>
              </a:rPr>
              <a:t>Undetected modification of evidence during handling or storage undermines the validity of any resulting analysis.  </a:t>
            </a:r>
            <a:r>
              <a:rPr b="1" sz="1200">
                <a:solidFill>
                  <a:srgbClr val="38BDF8"/>
                </a:solidFill>
              </a:rPr>
              <a:t>[Mitigation: Mandatory bit-for-bit SHA-256 baseline hashing at seizure; re-verify at every stage.]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• Hash Collision Exploitation: </a:t>
            </a:r>
            <a:r>
              <a:rPr b="0" sz="1200">
                <a:solidFill>
                  <a:srgbClr val="CBD5E1"/>
                </a:solidFill>
              </a:rPr>
              <a:t>Weak algorithms such as MD5 or SHA-1 can allow two different files to be crafted with matching hashes.  </a:t>
            </a:r>
            <a:r>
              <a:rPr b="1" sz="1200">
                <a:solidFill>
                  <a:srgbClr val="38BDF8"/>
                </a:solidFill>
              </a:rPr>
              <a:t>[Mitigation: Enforce dual-hashing (MD5 + SHA-256) and mandate SHA-256 as the legal primary standard.]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• Chain-of-Custody Gaps: </a:t>
            </a:r>
            <a:r>
              <a:rPr b="0" sz="1200">
                <a:solidFill>
                  <a:srgbClr val="CBD5E1"/>
                </a:solidFill>
              </a:rPr>
              <a:t>Missing or inconsistent hash records weaken the provable history of who accessed evidence and when.  </a:t>
            </a:r>
            <a:r>
              <a:rPr b="1" sz="1200">
                <a:solidFill>
                  <a:srgbClr val="38BDF8"/>
                </a:solidFill>
              </a:rPr>
              <a:t>[Mitigation: Deploy cryptographically chained ledgers where each custody log signs the previous entry.]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• Tool / Process Error: </a:t>
            </a:r>
            <a:r>
              <a:rPr b="0" sz="1200">
                <a:solidFill>
                  <a:srgbClr val="CBD5E1"/>
                </a:solidFill>
              </a:rPr>
              <a:t>Misconfigured hashing tools or rushed procedures can produce false 'match' results.  </a:t>
            </a:r>
            <a:r>
              <a:rPr b="1" sz="1200">
                <a:solidFill>
                  <a:srgbClr val="38BDF8"/>
                </a:solidFill>
              </a:rPr>
              <a:t>[Mitigation: Validate all software against NIST Computer Forensic Tool Testing (CFTT) standards.]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• Legal Inadmissibility: </a:t>
            </a:r>
            <a:r>
              <a:rPr b="0" sz="1200">
                <a:solidFill>
                  <a:srgbClr val="CBD5E1"/>
                </a:solidFill>
              </a:rPr>
              <a:t>Evidence lacking verifiable, well-documented hash values is excluded in court.  </a:t>
            </a:r>
            <a:r>
              <a:rPr b="1" sz="1200">
                <a:solidFill>
                  <a:srgbClr val="38BDF8"/>
                </a:solidFill>
              </a:rPr>
              <a:t>[Mitigation: Issue standardized Section 65B &amp; ISO 27037 verification certificates with timestamp logs.]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Statistical Findings: Risk vs Distribution of Incidents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Figure 2: Relative Integrity-Failure Risk (1-10 Scale)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• CRC32:   [ 9 / 10 ]  Critical (Non-cryptographic)</a:t>
            </a:r>
            <a:br/>
            <a:r>
              <a:t>• MD5:     [ 8 / 10 ]  Severe (Collision attacks practical)</a:t>
            </a:r>
            <a:br/>
            <a:r>
              <a:t>• SHA-1:   [ 7 / 10 ]  High (SHAttered attack proven)</a:t>
            </a:r>
            <a:br/>
            <a:r>
              <a:t>• SHA-256: [ 3 / 10 ]  Robust (Gold Standard)</a:t>
            </a:r>
            <a:br/>
            <a:r>
              <a:t>• SHA-512: [ 2 / 10 ]  Maximum (High-Assurance)</a:t>
            </a:r>
            <a:br/>
            <a:r>
              <a:t>• SHA-3:   [ 1 / 10 ]  Next-Gen (Keccak Sponge)</a:t>
            </a:r>
            <a:br/>
            <a:br/>
            <a:r>
              <a:t>Key Takeaway: Over 60% reduction in forensic risk when transitioning from MD5 to SHA-256.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Figure 3: Evidence-Integrity Incident Categories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• Legacy / Weak Algorithm Use:           28%</a:t>
            </a:r>
            <a:br/>
            <a:r>
              <a:t>• Chain-of-Custody Documentation Gaps:   24%</a:t>
            </a:r>
            <a:br/>
            <a:r>
              <a:t>• Evidence Mishandling (Storage/Trans):  20%</a:t>
            </a:r>
            <a:br/>
            <a:r>
              <a:t>• Tool Misconfiguration:                 16%</a:t>
            </a:r>
            <a:br/>
            <a:r>
              <a:t>• Verification Skipped Under Pressure:   12%</a:t>
            </a:r>
            <a:br/>
            <a:br/>
            <a:r>
              <a:t>Key Takeaway: More than 52% of all forensic evidence challenges stem from procedural &amp; documentation failures rather than hardware malfunction.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Legal Admissibility: Section 65B &amp; ISO/IEC 27037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Section 65B (Indian Evidence Act / BSA 2023)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Mandates that electronic records are admissible only when accompanied by an authorized certificate affirming that the computer system operated properly and no unauthorized alteration compromised the bit-stream integrity during custody.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23444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ISO/IEC 27037 Forensic Standard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Defines internationally accepted guidelines for evidence Identification, Collection, Acquisition, and Preservation. Requires immediate dual-hashing upon media seizure before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23444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US Federal Rules of Evidence (Rule 902(13)/(14))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Permits self-authenticating digital evidence through certified cryptographic hash verification matching across all custodial transfer timestamps.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Forensic Recommendations &amp; Operational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64008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1. Primary Standard: Mandate SHA-256 (or SHA-512 for high-assurance cases) as the primary standard for all new evidentiary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95728"/>
            <a:ext cx="10698480" cy="64008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2. Dual-Hashing Protocol: Retain MD5 exclusively as a secondary cross-check for historical database continuity.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45536"/>
            <a:ext cx="10698480" cy="64008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3. Hardware Write-Blocking: Always employ verified hardware write-blockers (e.g. Tableau) to prevent operating system metadata modification.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95344"/>
            <a:ext cx="10698480" cy="64008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4. Tamper-Chained Logs: Replace mutable paper / Excel logs with cryptographically chained digital ledgers.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45152"/>
            <a:ext cx="10698480" cy="64008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5. Verification Discipline: Re-compute hashes at every transition: Acquisition ➔ Vault ➔ Lab Image ➔ Analysis ➔ Court.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59"/>
            <a:ext cx="10698480" cy="640080"/>
          </a:xfrm>
          <a:prstGeom prst="roundRect">
            <a:avLst/>
          </a:prstGeom>
          <a:solidFill>
            <a:srgbClr val="0E1424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6. Examiner Training: Institutionalize regular training to ensure investigators understand what cryptographic hashes guarantee and what they do 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CYBER FORENSICS &amp; INVESTIGATION | N-PECCM704T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Live Forensic Suite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0E1424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F2FE"/>
                </a:solidFill>
              </a:defRPr>
            </a:pPr>
            <a:r>
              <a:t>ForensiGuard: Working Project Implementation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• The research findings were directly engineered into a working software application: ForensiGuard.</a:t>
            </a:r>
            <a:br/>
            <a:r>
              <a:t>• Live Modules Demonstrated:</a:t>
            </a:r>
            <a:br/>
            <a:r>
              <a:t>   1. Multi-Algorithm Evidence Ingestion &amp; Entropy Calculation</a:t>
            </a:r>
            <a:br/>
            <a:r>
              <a:t>   2. Avalanche Effect Bit-Diffusion Matrix (Hamming Distance ~50%)</a:t>
            </a:r>
            <a:br/>
            <a:r>
              <a:t>   3. Cryptographic Chain-of-Custody with Automated Tamper Detection</a:t>
            </a:r>
            <a:br/>
            <a:r>
              <a:t>   4. Section 65B Statutory Certificate Generation</a:t>
            </a:r>
            <a:br/>
            <a:br/>
            <a:r>
              <a:t>Investigator: Shourya Choure [CM23049]</a:t>
            </a:r>
            <a:br/>
            <a:r>
              <a:t>Guide: Ms. Sweta Bokade (Assistant Professor, SBJITMR Nagpur)</a:t>
            </a:r>
            <a:br/>
            <a:r>
              <a:t>Live Suite: http://localhost:5173/  |  Repository: https://github.com/Shouryachoure/CYBER-FORENSIC-</a:t>
            </a:r>
            <a:br/>
            <a:br/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